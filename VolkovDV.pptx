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17" autoAdjust="0"/>
    <p:restoredTop sz="94660"/>
  </p:normalViewPr>
  <p:slideViewPr>
    <p:cSldViewPr snapToGrid="0">
      <p:cViewPr varScale="1">
        <p:scale>
          <a:sx n="45" d="100"/>
          <a:sy n="45" d="100"/>
        </p:scale>
        <p:origin x="18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1810322-2D9E-421A-98EE-8453F2C62B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5B5F18E-67F9-4254-A29D-915A1BBB9E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435A84D-7B2C-40C1-8FEF-2D9C3F266E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1B17FD9-4C28-4391-877F-A4DF144FE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57D925E-AB03-4F90-B98C-A68D8C434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4669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FFADB-A999-4345-BAAB-0EB22E23D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7835FB-861B-4672-8401-78AA284CB8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DA4CF9D-9D12-4759-A60E-17BA90C1D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74C5C9-C4FE-4B16-8B62-E0C710E49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4CAD6CD-0232-420B-8BA3-AC61D0FDE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5052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AA6F9A-BC02-4309-97DB-76EE069EC6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0CEA521-800E-4DFD-93E4-76BCA56E9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2E8B47-9551-4487-8736-76373DBC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5D4C2AD-DC7E-4817-B658-07216D93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947D5D-E7F5-4013-B302-5A0EAFD47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808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6C6347-1487-407C-9F31-F4FF76B6B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44B2CAA-6C84-47D8-9446-76A69C6ED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28F534-E69D-4583-8F7A-3158B357C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340A6D5-09FE-4342-96B8-52EF92296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9401C4E-8D48-4864-9AF9-DAD86A944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4362CA-DCE3-4154-A790-7D40834B5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2448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5B86C-052B-4FC7-A279-8AED3DEF1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9689252-B4CE-44DE-9C53-BACEC100D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561975-5493-43F5-9C7C-0BBE39EB88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335277C-4D7F-4C9D-8532-359373282C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F198AAD-FB99-4C6D-B1F9-86D6D50A9A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36F142E-0E2B-49F3-9F2E-D650E430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2F8205-DB5A-4D02-AB89-846499CDC6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30B8A9B-F039-4E8A-8650-64D8FE033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0323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397FA9-64CF-49C6-9DAF-259FB43D0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6D9AEBD-97CC-4FEB-A066-3AEECE2AB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1650DED-B064-4596-AAF4-4D78F0391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A226FD-EBA6-44D6-9622-60FFA5891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27790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E062246-BDFF-4175-A5D8-09ED5F906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74E5CB4-ADBD-41AD-8141-78AD17AD2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7BD8404-7A95-4BF9-8CA8-C98B31844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297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9473B7-9E23-4103-9875-FE5E37957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CE8E1F-21AA-42D5-BC5E-7115F221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F4D43C4-2FF5-40BB-9321-0329B853A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ECD7FEB-A39D-405B-9404-AC0EE1384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62E9F3F-B892-4EAC-AE86-6F62137EE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2630BBD-6D3E-49DD-896E-BC4D42547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4259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FAB1FE-5D01-4752-ACB3-B114A7DC1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DFF9239-2522-4A4E-AA55-3728765C85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4E4570-DDE1-4930-8E7D-E12C7B0FE2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0CB4BA-B8E7-4422-83BC-FE661EB61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0EEF5BC-DE6F-407D-8098-9DE3683E2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FE767A2-787D-4815-A8DF-E4B760827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2055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920A56-D0FE-48D8-898D-65067565F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4376CDD-C905-4541-9880-F2EB368F12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AA5CEF-6C10-4080-90DF-8C8150EBA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F70205-D06D-49A9-BC05-DD18242A3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4D164A-6454-4E70-AD14-CEEB7CF6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2369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7FCB21E-FA55-4D40-B389-99B739411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D7E853C-030E-485D-B93C-262271C15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73F68F6-DFFC-4EE0-8392-DF834916D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57D8D92-CF95-42A6-AFA5-0FF7AF30B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7EA015-0CC2-43F3-9FF9-16173F2F1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19043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254B98-80A6-4E2F-8EFC-272E8F2F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44D236-9696-4EFA-AF40-E9B6BA1956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1B2BCD4-A34E-42D0-8900-3ED329733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0A67BC-56F5-4967-8F62-2B625F2862CD}" type="datetimeFigureOut">
              <a:rPr lang="ru-RU" smtClean="0"/>
              <a:t>09.02.2026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8D9201-37D2-47FE-8C5B-BCFCC2C6D3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C8239C2-A3F6-43D1-AB54-0C6D09C8B2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3135DD-3383-4ED7-95F6-C9284735E3E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4477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A82CE0-D619-4D90-B6D1-9E32315C07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99848"/>
            <a:ext cx="91440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НАЦИОНАЛЬНЫЙ ИССЛЕДОВАТЕЛЬСКИЙ</a:t>
            </a:r>
            <a:br>
              <a:rPr lang="ru-RU" sz="16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ТОМСКИЙ ГОСУДАРСТВЕННЫЙ УНИВЕРСИТЕТ</a:t>
            </a:r>
            <a:b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СИСТЕМА МОНИТОРИНГА СОСТОЯНИЯ ВОДИТЕЛЯ</a:t>
            </a: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br>
              <a:rPr lang="ru-RU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EAD0926-025B-4A53-A36F-C6C827940E14}"/>
              </a:ext>
            </a:extLst>
          </p:cNvPr>
          <p:cNvSpPr/>
          <p:nvPr/>
        </p:nvSpPr>
        <p:spPr>
          <a:xfrm>
            <a:off x="5170714" y="3328759"/>
            <a:ext cx="7021286" cy="1655761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3420745">
              <a:lnSpc>
                <a:spcPct val="107000"/>
              </a:lnSpc>
              <a:spcAft>
                <a:spcPts val="0"/>
              </a:spcAft>
            </a:pPr>
            <a:r>
              <a:rPr lang="ru-RU" sz="1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Волков Дмитрий Владимирович 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0745">
              <a:lnSpc>
                <a:spcPct val="107000"/>
              </a:lnSpc>
              <a:spcAft>
                <a:spcPts val="0"/>
              </a:spcAft>
            </a:pPr>
            <a:r>
              <a:rPr lang="ru-RU" sz="1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группа 292405-2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0745">
              <a:lnSpc>
                <a:spcPct val="107000"/>
              </a:lnSpc>
              <a:spcAft>
                <a:spcPts val="0"/>
              </a:spcAft>
            </a:pPr>
            <a:r>
              <a:rPr lang="ru-RU" sz="12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Руководитель: 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0745">
              <a:lnSpc>
                <a:spcPct val="107000"/>
              </a:lnSpc>
              <a:spcAft>
                <a:spcPts val="0"/>
              </a:spcAft>
            </a:pPr>
            <a:r>
              <a:rPr lang="ru-RU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Осинцев Артем Викторович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BA264E2-173C-4F05-B092-0BD4C6EF50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99657"/>
            <a:ext cx="8915400" cy="3558495"/>
          </a:xfrm>
        </p:spPr>
        <p:txBody>
          <a:bodyPr>
            <a:normAutofit/>
          </a:bodyPr>
          <a:lstStyle/>
          <a:p>
            <a:r>
              <a:rPr lang="ru-RU" sz="18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Часть 2: Реализация и тестирование MVP-ядра</a:t>
            </a:r>
          </a:p>
          <a:p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ru-RU" dirty="0">
              <a:solidFill>
                <a:srgbClr val="0F11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14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Томск, 2026</a:t>
            </a:r>
            <a:endParaRPr lang="ru-RU" sz="1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AED6D19-6518-45CE-962E-4F82E7B1F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35"/>
            <a:ext cx="233362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043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A8135E-29AA-495D-A4C1-F392E8DFD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MVP и ключевые метрики успеха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A898F96-09A4-D43A-8347-4354E32D3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533" y="1619228"/>
            <a:ext cx="4044280" cy="3619543"/>
          </a:xfrm>
          <a:prstGeom prst="rect">
            <a:avLst/>
          </a:prstGeom>
        </p:spPr>
      </p:pic>
      <p:sp>
        <p:nvSpPr>
          <p:cNvPr id="3" name="Объект 2">
            <a:extLst>
              <a:ext uri="{FF2B5EF4-FFF2-40B4-BE49-F238E27FC236}">
                <a16:creationId xmlns:a16="http://schemas.microsoft.com/office/drawing/2014/main" id="{256F573C-F7C1-48AA-9E98-3C5C4BDF0E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29" y="1753912"/>
            <a:ext cx="4757256" cy="4135160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ЦЕЛЬ MVP: Создать работоспособное ядро, реализующее адаптивный подход 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Порог = Базовый × K</a:t>
            </a: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в реальном времени на стандартном CPU в рамках </a:t>
            </a:r>
            <a:r>
              <a:rPr lang="en-US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MVP</a:t>
            </a: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lnSpc>
                <a:spcPct val="107000"/>
              </a:lnSpc>
              <a:spcAft>
                <a:spcPts val="0"/>
              </a:spcAft>
              <a:buNone/>
            </a:pP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spcAft>
                <a:spcPts val="600"/>
              </a:spcAft>
              <a:buNone/>
            </a:pP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КЛЮЧЕВЫЕ МЕТРИКИ (на которые мы опирались):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+mj-lt"/>
              <a:buAutoNum type="arabicPeriod"/>
              <a:tabLst>
                <a:tab pos="13716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Производительность (</a:t>
            </a:r>
            <a:r>
              <a:rPr lang="ru-RU" sz="16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Real-Time</a:t>
            </a: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 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FPS ≥ 15, Задержка ≤ 200 </a:t>
            </a:r>
            <a:r>
              <a:rPr lang="ru-RU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мс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+mj-lt"/>
              <a:buAutoNum type="arabicPeriod"/>
              <a:tabLst>
                <a:tab pos="13716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Точность работы адаптивной логики: Успешное прохождение всех приёмочных тестов.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+mj-lt"/>
              <a:buAutoNum type="arabicPeriod"/>
              <a:tabLst>
                <a:tab pos="13716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Эффективность калибровки: 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Время калибровки ≤ 30 секунд.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+mj-lt"/>
              <a:buAutoNum type="arabicPeriod"/>
              <a:tabLst>
                <a:tab pos="13716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Интерпретируемость: Каждое решение системы объясняется через метрики и пороги.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buFont typeface="+mj-lt"/>
              <a:buAutoNum type="arabicPeriod"/>
              <a:tabLst>
                <a:tab pos="1371600" algn="l"/>
              </a:tabLst>
            </a:pP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Ожидаемый эффект адаптивности (целевая метрика): Снижение ложных срабатываний ≥40% </a:t>
            </a:r>
            <a:r>
              <a:rPr lang="ru-RU" sz="1600" dirty="0" err="1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vs</a:t>
            </a: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статические пороги </a:t>
            </a:r>
            <a:r>
              <a:rPr lang="ru-RU" sz="1600" i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(требует отдельной сравнительной валидации)</a:t>
            </a:r>
            <a:r>
              <a:rPr lang="ru-RU" sz="1600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CA6CFBB-7DFB-72AE-AFE2-3C67256ADC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970" y="1359705"/>
            <a:ext cx="5267325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1324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C8FD33-5FDD-4AFE-AFB5-E24D8AF8F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7496"/>
            <a:ext cx="10515600" cy="1325563"/>
          </a:xfrm>
        </p:spPr>
        <p:txBody>
          <a:bodyPr>
            <a:normAutofit/>
          </a:bodyPr>
          <a:lstStyle/>
          <a:p>
            <a:r>
              <a:rPr lang="ru-RU" sz="1800" b="1" dirty="0">
                <a:solidFill>
                  <a:srgbClr val="0F1115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Архитектура и реализация адаптивной логики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689C4F-A89C-4D5C-B4B9-2A2758E4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3628"/>
            <a:ext cx="7336971" cy="3541653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ШАГ 0: Загрузка "мозга". Коэффициенты K_MAR=22.36, 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K_расстояния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=1.28 загружаются из JSON-файла.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ШАГ 1: Персональная калибровка (30 сек).</a:t>
            </a:r>
          </a:p>
          <a:p>
            <a:pPr marL="449580">
              <a:lnSpc>
                <a:spcPct val="110000"/>
              </a:lnSpc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Сбор данных нейтрального состояния (лицо в кадре, глаза открыты, рот закрыт).</a:t>
            </a:r>
          </a:p>
          <a:p>
            <a:pPr marL="449580">
              <a:lnSpc>
                <a:spcPct val="110000"/>
              </a:lnSpc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Расчёт медианных базовых уровней (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EAR_баз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MAR_баз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 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Расстояние_баз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449580">
              <a:lnSpc>
                <a:spcPct val="110000"/>
              </a:lnSpc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Расчёт персональных порогов: Порог = Базовый × K.</a:t>
            </a:r>
          </a:p>
          <a:p>
            <a:pPr marL="449580">
              <a:lnSpc>
                <a:spcPct val="110000"/>
              </a:lnSpc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Сохранение профиля в локальную базу данных 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SQLite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(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driver_profiles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0" indent="0">
              <a:lnSpc>
                <a:spcPct val="110000"/>
              </a:lnSpc>
              <a:spcAft>
                <a:spcPts val="0"/>
              </a:spcAft>
              <a:buNone/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ШАГ 2: Мониторинг и логирование в реальном времени.</a:t>
            </a:r>
          </a:p>
          <a:p>
            <a:pPr marL="449580">
              <a:lnSpc>
                <a:spcPct val="110000"/>
              </a:lnSpc>
              <a:spcAft>
                <a:spcPts val="0"/>
              </a:spcAft>
            </a:pPr>
            <a:r>
              <a:rPr lang="ru-RU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Детекция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зевка: (MAR ≥ 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Порог_MAR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 и (Расстояние ≥ 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Порог_Расстояния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).</a:t>
            </a:r>
          </a:p>
          <a:p>
            <a:pPr marL="449580">
              <a:lnSpc>
                <a:spcPct val="110000"/>
              </a:lnSpc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Оценка усталости (PERCLOS): Анализ метрики EAR (степень открытости глаз) в скользящем окне 30 сек.</a:t>
            </a:r>
          </a:p>
          <a:p>
            <a:pPr marL="449580">
              <a:lnSpc>
                <a:spcPct val="110000"/>
              </a:lnSpc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PERCLOS = % времени, когда глаза закрыты более чем на 80%. Стандартный индикатор усталости (ISO/TR 21926).</a:t>
            </a:r>
          </a:p>
          <a:p>
            <a:pPr marL="449580">
              <a:lnSpc>
                <a:spcPct val="110000"/>
              </a:lnSpc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Классификация уровня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 Normal (&lt;10%), Light (10-20%), Medium (20-28%), Critical (≥28%).</a:t>
            </a:r>
            <a:endParaRPr lang="ru-RU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49580">
              <a:lnSpc>
                <a:spcPct val="110000"/>
              </a:lnSpc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Логирование: Все метрики, пороги, уровни усталости и факты зевка сохраняются в БД (</a:t>
            </a:r>
            <a:r>
              <a:rPr lang="ru-RU" sz="12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monitoring_data</a:t>
            </a: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с временными метками.</a:t>
            </a:r>
          </a:p>
          <a:p>
            <a:pPr marL="449580">
              <a:lnSpc>
                <a:spcPct val="110000"/>
              </a:lnSpc>
              <a:spcAft>
                <a:spcPts val="0"/>
              </a:spcAft>
            </a:pPr>
            <a:r>
              <a:rPr lang="ru-RU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Стратегия оптимизации: Пропуск каждого второго кадра для гарантированного FPS ≥15.</a:t>
            </a:r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BCCC3C4-1942-4531-A106-4917C0AEB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8380" y="107496"/>
            <a:ext cx="3819525" cy="531495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D2D1721-6BD6-CB67-C8F5-2C8F893468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412" y="5102450"/>
            <a:ext cx="11011803" cy="1583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96269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856FE3-5F43-FA2A-EEDC-51E0474AF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21875"/>
            <a:ext cx="10515600" cy="1325563"/>
          </a:xfrm>
        </p:spPr>
        <p:txBody>
          <a:bodyPr>
            <a:norm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тестирования: Функциональность и анализ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188486-4F6F-9865-B273-9C57973C3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578" y="1551018"/>
            <a:ext cx="5131266" cy="5201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ПРИЁМОЧНЫЕ ТЕСТЫ: 9 из 9 УСПЕШНО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коэффициентов (K_MAR=22.36, 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K_dist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=1.28) — OK.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Корректность формулы Порог = Базовый × K — OK.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Логика "И" для детекции зевка — OK. Защита от ложных срабатываний при разговоре подтверждена.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Расчёт PERCLOS и уровней усталости (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Normal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Light,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Medium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— OK.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БД: Создание таблиц, запись профилей и логов мониторинга — OK.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Генерация отчётов (текст + график) по данным из БД — OK.</a:t>
            </a:r>
          </a:p>
          <a:p>
            <a:pPr marL="0" indent="0">
              <a:buNone/>
            </a:pPr>
            <a:endParaRPr lang="ru-RU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ПРАКТИЧЕСКИЙ СЕАНС (57 сек):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Калибровка: 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MAR_баз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=0.030 → </a:t>
            </a:r>
            <a:r>
              <a:rPr lang="ru-RU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Порог_MAR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=0.671.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Мониторинг: Детектировано 278 кадров с зевками. Визуальное оповещение цветом на интерфейсе.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Анализ PERCLOS: Выявлено КРИТИЧЕСКОЕ состояние усталости (PERCLOS &gt;28% в течение 40% времени).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 в БД: 1709 записей с метриками, уровнем усталости и зевками.</a:t>
            </a:r>
          </a:p>
          <a:p>
            <a:pPr marL="0" indent="0">
              <a:buNone/>
            </a:pP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Сформирован отчёт: Текстовый файл с итогами + график динамики метрик (EAR, MAR, PERCLOS) за сеанс.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6B1FE0-6D4C-D290-CDA8-21FD52B2A8A7}"/>
              </a:ext>
            </a:extLst>
          </p:cNvPr>
          <p:cNvSpPr/>
          <p:nvPr/>
        </p:nvSpPr>
        <p:spPr>
          <a:xfrm>
            <a:off x="5728284" y="1906552"/>
            <a:ext cx="2021747" cy="15893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СТАТИСТИКА ГЛАЗ:</a:t>
            </a:r>
          </a:p>
          <a:p>
            <a:pPr algn="ctr"/>
            <a:r>
              <a:rPr lang="ru-RU" dirty="0"/>
              <a:t>   Среднее закрытие: 28.6%</a:t>
            </a:r>
          </a:p>
          <a:p>
            <a:pPr algn="ctr"/>
            <a:r>
              <a:rPr lang="ru-RU" dirty="0"/>
              <a:t>   Максимальное закрытие: 84.6%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9022CF2-F6ED-E774-2C2E-CAE0BDD5D837}"/>
              </a:ext>
            </a:extLst>
          </p:cNvPr>
          <p:cNvSpPr/>
          <p:nvPr/>
        </p:nvSpPr>
        <p:spPr>
          <a:xfrm>
            <a:off x="9236279" y="1906552"/>
            <a:ext cx="2634143" cy="21391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СТАТИСТИКА ЗЕВКОВ:</a:t>
            </a:r>
          </a:p>
          <a:p>
            <a:pPr algn="ctr"/>
            <a:r>
              <a:rPr lang="ru-RU" dirty="0"/>
              <a:t>   Обнаружено кадров с зевками: 278</a:t>
            </a:r>
          </a:p>
          <a:p>
            <a:pPr algn="ctr"/>
            <a:r>
              <a:rPr lang="ru-RU" dirty="0"/>
              <a:t>   Средняя открытость рта: 0.944</a:t>
            </a:r>
          </a:p>
          <a:p>
            <a:pPr algn="ctr"/>
            <a:r>
              <a:rPr lang="ru-RU" dirty="0"/>
              <a:t>   Максимальная открытость: 1.328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169C851-0954-BF21-A9D9-E2EA456FF031}"/>
              </a:ext>
            </a:extLst>
          </p:cNvPr>
          <p:cNvSpPr/>
          <p:nvPr/>
        </p:nvSpPr>
        <p:spPr>
          <a:xfrm>
            <a:off x="8405769" y="166526"/>
            <a:ext cx="3087149" cy="13443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ФИНАЛЬНАЯ ОЦЕНКА СОСТОЯНИЯ:</a:t>
            </a:r>
          </a:p>
          <a:p>
            <a:pPr algn="ctr"/>
            <a:r>
              <a:rPr lang="ru-RU" dirty="0"/>
              <a:t>   КРИТИЧЕСКОЕ СОСТОЯНИЕ - НЕОБХОДИМ ОТДЫХ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33A28D0-1692-31CD-4ACF-9376E3A438F0}"/>
              </a:ext>
            </a:extLst>
          </p:cNvPr>
          <p:cNvSpPr/>
          <p:nvPr/>
        </p:nvSpPr>
        <p:spPr>
          <a:xfrm>
            <a:off x="7759816" y="4401279"/>
            <a:ext cx="3422708" cy="229019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СТАТИСТИКА </a:t>
            </a:r>
            <a:r>
              <a:rPr lang="en-US" dirty="0"/>
              <a:t>PERCLOS:</a:t>
            </a:r>
          </a:p>
          <a:p>
            <a:pPr algn="ctr"/>
            <a:r>
              <a:rPr lang="en-US" dirty="0"/>
              <a:t>   </a:t>
            </a:r>
            <a:r>
              <a:rPr lang="ru-RU" dirty="0"/>
              <a:t>Средний </a:t>
            </a:r>
            <a:r>
              <a:rPr lang="en-US" dirty="0"/>
              <a:t>PERCLOS: 22.4%</a:t>
            </a:r>
          </a:p>
          <a:p>
            <a:pPr algn="ctr"/>
            <a:r>
              <a:rPr lang="en-US" dirty="0"/>
              <a:t>   </a:t>
            </a:r>
            <a:r>
              <a:rPr lang="ru-RU" dirty="0"/>
              <a:t>Максимальный </a:t>
            </a:r>
            <a:r>
              <a:rPr lang="en-US" dirty="0"/>
              <a:t>PERCLOS: 40.1%</a:t>
            </a:r>
          </a:p>
          <a:p>
            <a:pPr algn="ctr"/>
            <a:r>
              <a:rPr lang="en-US" dirty="0"/>
              <a:t>   </a:t>
            </a:r>
            <a:r>
              <a:rPr lang="ru-RU" dirty="0"/>
              <a:t>Время с </a:t>
            </a:r>
            <a:r>
              <a:rPr lang="en-US" dirty="0"/>
              <a:t>PERCLOS ≥10%: 78.5%</a:t>
            </a:r>
          </a:p>
          <a:p>
            <a:pPr algn="ctr"/>
            <a:r>
              <a:rPr lang="en-US" dirty="0"/>
              <a:t>   </a:t>
            </a:r>
            <a:r>
              <a:rPr lang="ru-RU" dirty="0"/>
              <a:t>Время с </a:t>
            </a:r>
            <a:r>
              <a:rPr lang="en-US" dirty="0"/>
              <a:t>PERCLOS ≥20%: 69.2%</a:t>
            </a:r>
          </a:p>
          <a:p>
            <a:pPr algn="ctr"/>
            <a:r>
              <a:rPr lang="en-US" dirty="0"/>
              <a:t>   </a:t>
            </a:r>
            <a:r>
              <a:rPr lang="ru-RU" dirty="0"/>
              <a:t>Время с </a:t>
            </a:r>
            <a:r>
              <a:rPr lang="en-US" dirty="0"/>
              <a:t>PERCLOS ≥28%: 40.0%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5628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886CD5-703A-24C7-61CF-D7393BBCE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запись метрик в БД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27F3F787-C4F0-94F1-7ED4-71597C59B5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776" y="1519745"/>
            <a:ext cx="6391646" cy="2295724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AFA132E-5334-39CF-13A8-5888FC0754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9328" y="3429000"/>
            <a:ext cx="7259974" cy="302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7623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44FAD2-7B56-A6B0-4FD8-257084C79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752" y="163789"/>
            <a:ext cx="10515600" cy="1325563"/>
          </a:xfrm>
        </p:spPr>
        <p:txBody>
          <a:bodyPr>
            <a:norm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тестирования: Производительность (Real-Time)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573728-E2F5-AAA9-BA30-EAB56C916E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9752" y="1422953"/>
            <a:ext cx="6267275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РЕЗУЛЬТАТЫ НА СТАНДАРТНОМ CPU (i5):</a:t>
            </a:r>
          </a:p>
          <a:p>
            <a:pPr marL="0" lv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FPS (кадров/сек): 15.3 при цели ≥15</a:t>
            </a:r>
          </a:p>
          <a:p>
            <a:pPr marL="0" lv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Задержка (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Latency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): ~0.1 мс при цели ≤200 мс</a:t>
            </a:r>
          </a:p>
          <a:p>
            <a:pPr marL="0" lv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Потребление ОЗУ: ~250 МБ (низкое)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ПОЧЕМУ ЭТО РАБОТАЕТ? Ключевые решения:</a:t>
            </a:r>
          </a:p>
          <a:p>
            <a:pPr marL="0" lv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Пропуск кадров (стратегия).</a:t>
            </a:r>
          </a:p>
          <a:p>
            <a:pPr marL="0" lv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Отсутствие тяжёлых моделей в реальном времени (только геометрия).</a:t>
            </a:r>
          </a:p>
          <a:p>
            <a:pPr marL="0" lv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Векторизованные вычисления на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ПРОБЛЕМА ДЛЯ ПРОДАКШЕНА: Требования для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Jetson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ИК-камера. 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 с RGB на ИК — главный вызов для следующего этапа.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61430024-EF15-716C-F59B-10B2964275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621" y="1178474"/>
            <a:ext cx="1374117" cy="1374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icture background">
            <a:extLst>
              <a:ext uri="{FF2B5EF4-FFF2-40B4-BE49-F238E27FC236}">
                <a16:creationId xmlns:a16="http://schemas.microsoft.com/office/drawing/2014/main" id="{C7D7875D-41F5-A274-77CF-88DD8FA67E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37760" y="3429000"/>
            <a:ext cx="2701435" cy="2701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C49EB95E-3286-C2B9-8CD5-2E86ED58F4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3427" y="4724400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9BC50950-EA78-A8B7-B264-FF38B8B1E3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6723" y="163789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020E5F4F-2F61-9521-DF1C-79958FA450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344" y="4560610"/>
            <a:ext cx="2133601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7946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2F88EF-92A4-3C93-DED5-27AE30A2A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работы системы (ВИДЕО)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7BFC6F-D57F-834B-837F-8624645ED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ДЕМОНСТРАЦИЯ РАБОЧЕГО MVP</a:t>
            </a:r>
            <a:endParaRPr lang="ru-RU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56548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645644-60A5-60CE-4A85-F7E598D7E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Выводы, ограничения MVP и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roadmap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860BBB-0B6A-F207-A528-66D611154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37807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ИТОГ: MVP-ядро успешно реализовано. Адаптивный подход Порог = Базовый × K доказал работоспособность в реальном времени.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ОГРАНИЧЕНИЯ (MVP): RGB-камера, нет трекинга при потере лица.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ROADMAP РАЗВИТИЯ: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Кратко: Трекинг, звуковое оповещение, расширенное тестирование.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Средне: Преодоление доменного сдвига (сбор парного датасета RGB-IR), портирование на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Jetson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Nano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Долго: Гибридная ML-архитектура (адаптивные пороги как калибровочный слой), облачная аналитика.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E510B83A-2987-D3FA-4F51-E65054F8DB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6007" y="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980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831</Words>
  <Application>Microsoft Office PowerPoint</Application>
  <PresentationFormat>Широкоэкранный</PresentationFormat>
  <Paragraphs>86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НАЦИОНАЛЬНЫЙ ИССЛЕДОВАТЕЛЬСКИЙ ТОМСКИЙ ГОСУДАРСТВЕННЫЙ УНИВЕРСИТЕТ    СИСТЕМА МОНИТОРИНГА СОСТОЯНИЯ ВОДИТЕЛЯ  </vt:lpstr>
      <vt:lpstr>Цель MVP и ключевые метрики успеха</vt:lpstr>
      <vt:lpstr>Архитектура и реализация адаптивной логики</vt:lpstr>
      <vt:lpstr>Результаты тестирования: Функциональность и анализ данных</vt:lpstr>
      <vt:lpstr>Регистрация и запись метрик в БД</vt:lpstr>
      <vt:lpstr>Результаты тестирования: Производительность (Real-Time)</vt:lpstr>
      <vt:lpstr>Демонстрация работы системы (ВИДЕО)</vt:lpstr>
      <vt:lpstr>Выводы, ограничения MVP и roadmap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НАЦИОНАЛЬНЫЙ ИССЛЕДОВАТЕЛЬСКИЙ ТОМСКИЙ ГОСУДАРСТВЕННЫЙ УНИВЕРСИТЕТ    СИСТЕМА МОНИТОРИНГА СОСТОЯНИЯ ВОДИТЕЛЯ  </dc:title>
  <dc:creator>Дмитрий Волков</dc:creator>
  <cp:lastModifiedBy>Администратор</cp:lastModifiedBy>
  <cp:revision>3</cp:revision>
  <dcterms:created xsi:type="dcterms:W3CDTF">2026-02-09T09:14:05Z</dcterms:created>
  <dcterms:modified xsi:type="dcterms:W3CDTF">2026-02-09T14:20:40Z</dcterms:modified>
</cp:coreProperties>
</file>