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7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10322-2D9E-421A-98EE-8453F2C62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B5F18E-67F9-4254-A29D-915A1BBB9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35A84D-7B2C-40C1-8FEF-2D9C3F26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17FD9-4C28-4391-877F-A4DF144F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7D925E-AB03-4F90-B98C-A68D8C43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69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FFADB-A999-4345-BAAB-0EB22E23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835FB-861B-4672-8401-78AA284CB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A4CF9D-9D12-4759-A60E-17BA90C1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74C5C9-C4FE-4B16-8B62-E0C710E4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CAD6CD-0232-420B-8BA3-AC61D0FD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05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A6F9A-BC02-4309-97DB-76EE069E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CEA521-800E-4DFD-93E4-76BCA56E9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2E8B47-9551-4487-8736-76373DBC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D4C2AD-DC7E-4817-B658-07216D93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947D5D-E7F5-4013-B302-5A0EAFD4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08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C6347-1487-407C-9F31-F4FF76B6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4B2CAA-6C84-47D8-9446-76A69C6ED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28F534-E69D-4583-8F7A-3158B357C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40A6D5-09FE-4342-96B8-52EF92296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401C4E-8D48-4864-9AF9-DAD86A94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4362CA-DCE3-4154-A790-7D40834B5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24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5B86C-052B-4FC7-A279-8AED3DEF1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689252-B4CE-44DE-9C53-BACEC100D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561975-5493-43F5-9C7C-0BBE39EB8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335277C-4D7F-4C9D-8532-359373282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198AAD-FB99-4C6D-B1F9-86D6D50A9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6F142E-0E2B-49F3-9F2E-D650E430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2F8205-DB5A-4D02-AB89-846499CD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B8A9B-F039-4E8A-8650-64D8FE03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32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97FA9-64CF-49C6-9DAF-259FB43D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6D9AEBD-97CC-4FEB-A066-3AEECE2A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650DED-B064-4596-AAF4-4D78F039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A226FD-EBA6-44D6-9622-60FFA589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7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062246-BDFF-4175-A5D8-09ED5F90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4E5CB4-ADBD-41AD-8141-78AD17AD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BD8404-7A95-4BF9-8CA8-C98B3184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97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9473B7-9E23-4103-9875-FE5E3795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CE8E1F-21AA-42D5-BC5E-7115F22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4D43C4-2FF5-40BB-9321-0329B853A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CD7FEB-A39D-405B-9404-AC0EE1384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2E9F3F-B892-4EAC-AE86-6F62137E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630BBD-6D3E-49DD-896E-BC4D4254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25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FAB1FE-5D01-4752-ACB3-B114A7DC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FF9239-2522-4A4E-AA55-3728765C8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E4570-DDE1-4930-8E7D-E12C7B0FE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0CB4BA-B8E7-4422-83BC-FE661EB6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EEF5BC-DE6F-407D-8098-9DE3683E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E767A2-787D-4815-A8DF-E4B76082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55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20A56-D0FE-48D8-898D-65067565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376CDD-C905-4541-9880-F2EB368F1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AA5CEF-6C10-4080-90DF-8C8150EB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F70205-D06D-49A9-BC05-DD18242A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4D164A-6454-4E70-AD14-CEEB7CF6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36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FCB21E-FA55-4D40-B389-99B739411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7E853C-030E-485D-B93C-262271C15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3F68F6-DFFC-4EE0-8392-DF834916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7D8D92-CF95-42A6-AFA5-0FF7AF30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7EA015-0CC2-43F3-9FF9-16173F2F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04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54B98-80A6-4E2F-8EFC-272E8F2F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4D236-9696-4EFA-AF40-E9B6BA195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B2BCD4-A34E-42D0-8900-3ED329733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8D9201-37D2-47FE-8C5B-BCFCC2C6D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8239C2-A3F6-43D1-AB54-0C6D09C8B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47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82CE0-D619-4D90-B6D1-9E32315C0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9848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НАЦИОНАЛЬНЫЙ ИССЛЕДОВАТЕЛЬСКИЙ</a:t>
            </a:r>
            <a:r>
              <a:rPr lang="ru-RU" sz="1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ТОМСКИЙ ГОСУДАРСТВЕННЫЙ УНИВЕРСИТЕТ</a:t>
            </a:r>
            <a:b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 МОНИТОРИНГА СОСТОЯНИЯ ВОДИТЕЛЯ</a:t>
            </a:r>
            <a:r>
              <a:rPr lang="ru-RU" sz="1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EAD0926-025B-4A53-A36F-C6C827940E14}"/>
              </a:ext>
            </a:extLst>
          </p:cNvPr>
          <p:cNvSpPr/>
          <p:nvPr/>
        </p:nvSpPr>
        <p:spPr>
          <a:xfrm>
            <a:off x="5170714" y="3328759"/>
            <a:ext cx="7021286" cy="16557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0745">
              <a:lnSpc>
                <a:spcPct val="107000"/>
              </a:lnSpc>
              <a:spcAft>
                <a:spcPts val="0"/>
              </a:spcAft>
            </a:pPr>
            <a:r>
              <a:rPr lang="ru-RU" sz="18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Волкова Наталья Валерьевна</a:t>
            </a:r>
            <a:endParaRPr lang="ru-RU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0745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 </a:t>
            </a:r>
            <a:r>
              <a:rPr lang="ru-RU" sz="18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292405-1</a:t>
            </a:r>
            <a:endParaRPr lang="ru-RU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0745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endParaRPr lang="ru-RU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0745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Осинцев Артем Викторович</a:t>
            </a:r>
            <a:endParaRPr lang="ru-RU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A264E2-173C-4F05-B092-0BD4C6EF5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9657"/>
            <a:ext cx="8915400" cy="3558495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</a:t>
            </a:r>
            <a:r>
              <a:rPr lang="ru-RU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анализ и расчёт коэффициентов</a:t>
            </a:r>
            <a:endParaRPr lang="ru-RU" sz="24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Томск, 2026</a:t>
            </a:r>
            <a:endParaRPr lang="ru-RU" sz="18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ED6D19-6518-45CE-962E-4F82E7B1F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5"/>
            <a:ext cx="2333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43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8135E-29AA-495D-A4C1-F392E8DF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Усталость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водителя как ключевой фактор риска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6F573C-F7C1-48AA-9E98-3C5C4BDF0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1690688"/>
            <a:ext cx="11338560" cy="463613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Доминирующая причина ДТП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92% аварий в РФ происходят по вине 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водителей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триггер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Утомление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отвлечение внимания.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 усталости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когнитивных функций, увеличение времени реакции, микросон.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Критический порог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Отвлечение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2-3 секунды при 90 км/ч = движение «вслепую» на 50+ метров.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рынка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имеют низкую адаптивность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статические пороги → ложные срабатывания) или являются «чёрным ящиком».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132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8135E-29AA-495D-A4C1-F392E8DF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MediaPipe и ключевые метрики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6F573C-F7C1-48AA-9E98-3C5C4BDF0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3138091"/>
            <a:ext cx="5261020" cy="2300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</a:t>
            </a:r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(геометрия лица):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 (Mouth Aspect Ratio):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Нормированная открытость рта. Растет при зевке.</a:t>
            </a:r>
          </a:p>
          <a:p>
            <a:pPr lvl="1"/>
            <a:r>
              <a:rPr 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 (Eye Aspect Ratio):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Основа для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PERCLOS (</a:t>
            </a:r>
            <a:r>
              <a:rPr lang="ru-RU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индикатор усталости).</a:t>
            </a:r>
          </a:p>
          <a:p>
            <a:pPr lvl="1"/>
            <a:r>
              <a:rPr lang="ru-RU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Нос-подбородок:</a:t>
            </a:r>
            <a:r>
              <a:rPr lang="ru-RU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Наш новый признак для детекции опускания челюсти.</a:t>
            </a:r>
            <a:endParaRPr lang="ru-RU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https://habrastorage.org/r/w1560/getpro/habr/upload_files/f6a/cfd/669/f6acfd66944d68b4aa09cd7c5e793e7d.png"/>
          <p:cNvPicPr/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911" y="5315267"/>
            <a:ext cx="2596515" cy="154273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256F573C-F7C1-48AA-9E98-3C5C4BDF0E4D}"/>
              </a:ext>
            </a:extLst>
          </p:cNvPr>
          <p:cNvSpPr txBox="1">
            <a:spLocks/>
          </p:cNvSpPr>
          <p:nvPr/>
        </p:nvSpPr>
        <p:spPr>
          <a:xfrm>
            <a:off x="838200" y="1617663"/>
            <a:ext cx="11079480" cy="1326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 Face Mesh:</a:t>
            </a:r>
            <a:endParaRPr 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скорости (~30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FPS 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CPU) 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детализации (468 точек).</a:t>
            </a:r>
          </a:p>
          <a:p>
            <a:pPr lvl="1"/>
            <a:r>
              <a:rPr lang="ru-RU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Оптимальнее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Dlib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меньше точек) и тяжёлых нейросетей («чёрный ящик»).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80" y="2869026"/>
            <a:ext cx="6301060" cy="389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16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8135E-29AA-495D-A4C1-F392E8DF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статических систем и наша гипотеза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6F573C-F7C1-48AA-9E98-3C5C4BDF0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1822769"/>
            <a:ext cx="9923780" cy="4303712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Жёсткие (статические) пороги не учитывают анатомию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00000"/>
              </a:lnSpc>
            </a:pPr>
            <a:r>
              <a:rPr lang="ru-RU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одного водителя: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нормально открытый рот.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</a:pP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другого: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возможный зевок → 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Ложное срабатывание</a:t>
            </a: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Можно найти 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коэффициенты (K)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отражающие, 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 сколько раз в среднем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изменяется признак при зевке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ФОРМУЛА: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ru-RU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Порог_водителя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Базовый_уровень_водителя × 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научного модуля: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Найти и доказать K_MAR 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K_расстояние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61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8135E-29AA-495D-A4C1-F392E8DF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 и ключевые метрики научного анализа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463040"/>
            <a:ext cx="11008360" cy="4958080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Доказать гипотезу, рассчитать 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признаки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МЕТРИКИ ВАЛИДАЦИИ: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Статистическая значимость (p-value &lt; 0.001):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Различия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 "зевок"/"не зевок" не случайны.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Величина эффекта (Cohen's d &gt; 0.8):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Различия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имеют большую практическую значимость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классификации (F1-score &gt; 0.98):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14400" lvl="2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Двух признаков достаточно для детекции.</a:t>
            </a:r>
          </a:p>
          <a:p>
            <a:pPr marL="914400" lvl="2" indent="0">
              <a:buNone/>
            </a:pPr>
            <a:endParaRPr lang="ru-RU" sz="1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НОВЫЙ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Нормализованное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 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"нос-подбородок"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</a:t>
            </a:r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Физиологически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зевке челюсть опускается, увеличивая это расстояние. 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дополнительный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валидатор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снижения ложных срабатываний 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при разговоре).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135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 работы с данными и выявленные проблемы 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400" y="1825624"/>
            <a:ext cx="11562080" cy="461581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ФОРМИРОВАНИЕ И ЧИСТКА ДАТАСЕТА (Ручная работа):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Объединение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YawDD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(видео) и DDD (изображения).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«один водитель — один сплит»: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920 размеченных изображений (415 «зевок», 482 «не зевок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»).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ЭТАПЫ ЭКСПЕРИМЕНТА И ФОРМИРОВАНИЕ </a:t>
            </a: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АРТЕФАКТОВ: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 Чистые данные: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sz="19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признаков </a:t>
            </a:r>
            <a:r>
              <a:rPr lang="ru-RU" sz="1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 </a:t>
            </a:r>
            <a:r>
              <a:rPr lang="ru-RU" sz="1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 Face Mesh</a:t>
            </a:r>
            <a:r>
              <a:rPr lang="ru-RU" sz="1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(468 точек).</a:t>
            </a:r>
          </a:p>
          <a:p>
            <a:pPr lvl="3"/>
            <a:r>
              <a:rPr lang="ru-RU" sz="19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и фильтрация признаков</a:t>
            </a:r>
            <a:r>
              <a:rPr lang="ru-RU" sz="1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sz="1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sz="1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нормализованное расстояние «нос–подбородок».</a:t>
            </a:r>
          </a:p>
          <a:p>
            <a:pPr lvl="3"/>
            <a:r>
              <a:rPr lang="ru-RU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выбросов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Отбрасывание кадров с MAR &gt; 1.2 или MAR &lt; 0.03 (введён нижний порог).</a:t>
            </a:r>
            <a:endParaRPr lang="ru-RU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Структурированное сохранение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 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сохранены в CSV-файлы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image_path</a:t>
            </a:r>
            <a:r>
              <a:rPr lang="ru-RU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</a:t>
            </a:r>
            <a:r>
              <a:rPr lang="ru-RU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nose_chin_distance</a:t>
            </a:r>
            <a:r>
              <a:rPr lang="ru-RU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ru-RU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воспроизводимости.</a:t>
            </a:r>
            <a:endParaRPr lang="ru-RU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этих CSV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Проведён статистический анализ и 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рассчитаны коэффициенты K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06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7560" y="121285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 работы с данными и выявленные проблемы 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7840" y="3129280"/>
            <a:ext cx="8656320" cy="3728720"/>
          </a:xfrm>
        </p:spPr>
        <p:txBody>
          <a:bodyPr>
            <a:normAutofit fontScale="92500" lnSpcReduction="10000"/>
          </a:bodyPr>
          <a:lstStyle/>
          <a:p>
            <a:pPr lvl="3"/>
            <a:endParaRPr lang="ru-RU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ВЫЯВЛЕННЫЕ ПРОБЛЕМЫ И ОГРАНИЧЕНИЯ: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«Нулевой» MAR: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Когда рот закрыт точки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губ (13, 14) в MediaPipe сближаются,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r>
              <a:rPr 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 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0. </a:t>
            </a:r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Фильтрация и порог 0.03.</a:t>
            </a:r>
          </a:p>
          <a:p>
            <a:pPr lvl="2"/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Ракурсные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искажения в данных</a:t>
            </a: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Кадры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видео содержат повороты головы, ухудшая точность. </a:t>
            </a:r>
            <a:endParaRPr lang="ru-RU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Для эталонной точности требуется специализированный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фронтальными лицами.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K_EAR фиксирован: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Взят 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K_EAR = 0.6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из литературы. 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полной адаптивности системы требует отдельного статистического расчёта.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-126656" y="1114148"/>
            <a:ext cx="10759440" cy="237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Font typeface="Arial" panose="020B0604020202020204" pitchFamily="34" charset="0"/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Б. </a:t>
            </a:r>
            <a:r>
              <a:rPr lang="ru-RU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Аугментированные</a:t>
            </a: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данные (только train):</a:t>
            </a:r>
            <a:endParaRPr lang="ru-RU" sz="1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Повышение робастности моделей.</a:t>
            </a:r>
            <a:endParaRPr lang="ru-RU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Аугментации: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1371600" lvl="3" indent="0">
              <a:buNone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яркости/контраста (±20%), случайный поворот (±15°). </a:t>
            </a:r>
          </a:p>
          <a:p>
            <a:pPr marL="1371600" lvl="3" indent="0">
              <a:buNone/>
            </a:pP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Сильные геометрические искажения исключены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для сохранения геометрии признаков.</a:t>
            </a:r>
            <a:endParaRPr lang="ru-RU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этих данных: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Обучение и валидация ML-моделей (SVM, </a:t>
            </a:r>
            <a:r>
              <a:rPr lang="ru-RU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ru-RU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54" y="3705463"/>
            <a:ext cx="2748859" cy="234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3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№1: Статистическая значимость и коэффициенты K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9880" y="1835785"/>
            <a:ext cx="7452360" cy="4351338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теста Манна-Уитни и Cohen's </a:t>
            </a:r>
            <a:r>
              <a:rPr lang="ru-RU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d:</a:t>
            </a:r>
            <a:endParaRPr lang="ru-RU" sz="2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ru-RU" sz="2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ru-RU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MAR:</a:t>
            </a:r>
            <a:r>
              <a:rPr lang="ru-RU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14400" lvl="2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p-value &lt; 0.000001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Cohen's d = -0.975</a:t>
            </a:r>
            <a:r>
              <a:rPr lang="ru-RU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(БОЛЬШОЙ ЭФФЕКТ)</a:t>
            </a:r>
            <a:endParaRPr 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ru-RU" sz="2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ru-RU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Расстояния:</a:t>
            </a:r>
            <a:r>
              <a:rPr lang="ru-RU" sz="2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14400" lvl="2" indent="0">
              <a:buNone/>
            </a:pP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p-value &lt; 0.000001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Cohen's d = -0.818</a:t>
            </a:r>
            <a:r>
              <a:rPr lang="ru-RU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(БОЛЬШОЙ ЭФФЕКТ)</a:t>
            </a:r>
            <a:endParaRPr lang="en-US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ru-RU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РАССЧИТАННЫЕ КОЭФФИЦИЕНТЫ </a:t>
            </a:r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устойчивых статистик):</a:t>
            </a:r>
            <a:endParaRPr lang="ru-RU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K_MAR = 22.36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(25-й перцентиль "зевок" / Медиана "норма")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K_nose_chin_distance = 1.28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(Медиана "зевок" / Медиана "норма")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Гипотеза </a:t>
            </a:r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подтверждена.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Признаки </a:t>
            </a: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значимы, коэффициенты K рассчитаны.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172" y="1508443"/>
            <a:ext cx="4687980" cy="300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2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№2: </a:t>
            </a:r>
            <a:r>
              <a:rPr lang="ru-RU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ML-верификация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2410" y="1690688"/>
            <a:ext cx="11121390" cy="2322512"/>
          </a:xfrm>
        </p:spPr>
        <p:txBody>
          <a:bodyPr>
            <a:normAutofit/>
          </a:bodyPr>
          <a:lstStyle/>
          <a:p>
            <a:pPr lvl="1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ML-ВЕРИФИКАЦИЯ (Цель: </a:t>
            </a:r>
            <a:r>
              <a:rPr lang="ru-RU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&gt; 0.98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Лучшая модель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на тестовой выборке: </a:t>
            </a:r>
            <a:r>
              <a:rPr lang="ru-RU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= 0.986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 "расстояние" в линейной SVM имел нулевой вес, но его статистическая значимость и роль дополнительного валидатора в логике "И" подтверждены</a:t>
            </a:r>
            <a:r>
              <a:rPr lang="ru-RU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i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33" y="3688080"/>
            <a:ext cx="6819412" cy="281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99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1800" y="-6911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  <a:r>
              <a:rPr lang="ru-RU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№3: Итоговые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артефакты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1105" y="1094657"/>
            <a:ext cx="9382760" cy="2096915"/>
          </a:xfrm>
        </p:spPr>
        <p:txBody>
          <a:bodyPr>
            <a:normAutofit/>
          </a:bodyPr>
          <a:lstStyle/>
          <a:p>
            <a:pPr lvl="2"/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ИТОГОВЫЕ АРТЕФАКТЫ ДЛЯ MVP: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sz="2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scientific_coefficients.json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K_MAR=22.36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K_dist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=1.28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отчёт с графиками и выводами.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Сериализованная модель.</a:t>
            </a:r>
            <a:endParaRPr lang="ru-RU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05" y="3488642"/>
            <a:ext cx="3248892" cy="30437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997" y="3576873"/>
            <a:ext cx="4147012" cy="304376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307" y="3488642"/>
            <a:ext cx="3908614" cy="236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165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940</Words>
  <Application>Microsoft Office PowerPoint</Application>
  <PresentationFormat>Широкоэкранный</PresentationFormat>
  <Paragraphs>116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НАЦИОНАЛЬНЫЙ ИССЛЕДОВАТЕЛЬСКИЙ ТОМСКИЙ ГОСУДАРСТВЕННЫЙ УНИВЕРСИТЕТ    СИСТЕМА МОНИТОРИНГА СОСТОЯНИЯ ВОДИТЕЛЯ  </vt:lpstr>
      <vt:lpstr>Актуальность: Усталость водителя как ключевой фактор риска</vt:lpstr>
      <vt:lpstr>Выбор MediaPipe и ключевые метрики</vt:lpstr>
      <vt:lpstr>Проблема статических систем и наша гипотеза</vt:lpstr>
      <vt:lpstr>Методология и ключевые метрики научного анализа</vt:lpstr>
      <vt:lpstr>Методология работы с данными и выявленные проблемы </vt:lpstr>
      <vt:lpstr>Методология работы с данными и выявленные проблемы </vt:lpstr>
      <vt:lpstr>Результат №1: Статистическая значимость и коэффициенты K</vt:lpstr>
      <vt:lpstr>Результат №2: ML-верификация</vt:lpstr>
      <vt:lpstr>Результат №3: Итоговые артефакты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НАЦИОНАЛЬНЫЙ ИССЛЕДОВАТЕЛЬСКИЙ ТОМСКИЙ ГОСУДАРСТВЕННЫЙ УНИВЕРСИТЕТ    СИСТЕМА МОНИТОРИНГА СОСТОЯНИЯ ВОДИТЕЛЯ  </dc:title>
  <dc:creator>Дмитрий Волков</dc:creator>
  <cp:lastModifiedBy>Волкова Наталья Валерьевна</cp:lastModifiedBy>
  <cp:revision>16</cp:revision>
  <dcterms:created xsi:type="dcterms:W3CDTF">2026-02-09T09:14:05Z</dcterms:created>
  <dcterms:modified xsi:type="dcterms:W3CDTF">2026-02-09T12:54:14Z</dcterms:modified>
</cp:coreProperties>
</file>